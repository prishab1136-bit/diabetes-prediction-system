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5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Space Grotesk"/>
      <p:bold r:id="rId16"/>
    </p:embeddedFon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Wingdings 3" panose="05040102010807070707" pitchFamily="18" charset="2"/>
      <p:regular r:id="rId25"/>
    </p:embeddedFont>
    <p:embeddedFont>
      <p:font typeface="Plus Jakarta Sans"/>
      <p:bold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476" y="4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A5325-77E3-4137-8243-B5B0C18DDB93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6A3896-5543-47B6-BE7D-E000F1F07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58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A3896-5543-47B6-BE7D-E000F1F0746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842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7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572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46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85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33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735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1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8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361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25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8604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47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4876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94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85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21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06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239627" cy="6831419"/>
          </a:xfrm>
          <a:prstGeom prst="rect">
            <a:avLst/>
          </a:prstGeom>
          <a:ln w="76200">
            <a:solidFill>
              <a:srgbClr val="00B0F0"/>
            </a:solidFill>
          </a:ln>
        </p:spPr>
      </p:pic>
      <p:sp>
        <p:nvSpPr>
          <p:cNvPr id="6" name="Oval 5"/>
          <p:cNvSpPr/>
          <p:nvPr/>
        </p:nvSpPr>
        <p:spPr>
          <a:xfrm>
            <a:off x="0" y="4819650"/>
            <a:ext cx="3467100" cy="190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8867777" y="26581"/>
            <a:ext cx="3324223" cy="2057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5-Point Star 7"/>
          <p:cNvSpPr/>
          <p:nvPr/>
        </p:nvSpPr>
        <p:spPr>
          <a:xfrm>
            <a:off x="2362200" y="5448300"/>
            <a:ext cx="533400" cy="47625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5-Point Star 8"/>
          <p:cNvSpPr/>
          <p:nvPr/>
        </p:nvSpPr>
        <p:spPr>
          <a:xfrm>
            <a:off x="9848850" y="1009650"/>
            <a:ext cx="533400" cy="51435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422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5825" y="5692282"/>
            <a:ext cx="611505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3697" y="6090066"/>
            <a:ext cx="61150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734" y="1928627"/>
            <a:ext cx="4095750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032" y="233593"/>
            <a:ext cx="4345077" cy="3990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03886" y="797920"/>
            <a:ext cx="427892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chemeClr val="accent2">
                    <a:lumMod val="40000"/>
                    <a:lumOff val="60000"/>
                  </a:schemeClr>
                </a:solidFill>
                <a:latin typeface="Space Grotesk"/>
              </a:rPr>
              <a:t>MACHINE LEARNING IN 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057" y="1264381"/>
            <a:ext cx="6766743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2800" b="1" i="0" u="none" dirty="0">
                <a:solidFill>
                  <a:schemeClr val="accent2">
                    <a:lumMod val="75000"/>
                  </a:schemeClr>
                </a:solidFill>
                <a:latin typeface="Plus Jakarta Sans"/>
              </a:rPr>
              <a:t>Early Diabetes Risk Prediction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072" y="2930466"/>
            <a:ext cx="62103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chemeClr val="accent2">
                    <a:lumMod val="40000"/>
                    <a:lumOff val="60000"/>
                  </a:schemeClr>
                </a:solidFill>
                <a:latin typeface="Plus Jakarta Sans"/>
              </a:rPr>
              <a:t>An analytical framework leveraging clinical parameters for non-invasive early onset classification.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366" y="3671542"/>
            <a:ext cx="3098041" cy="30806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78298"/>
            <a:ext cx="3505200" cy="2543175"/>
          </a:xfrm>
          <a:prstGeom prst="roundRect">
            <a:avLst>
              <a:gd name="adj" fmla="val 59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92598"/>
            <a:ext cx="3505200" cy="2314575"/>
          </a:xfrm>
          <a:prstGeom prst="roundRect">
            <a:avLst>
              <a:gd name="adj" fmla="val 65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578298"/>
            <a:ext cx="3505200" cy="2543175"/>
          </a:xfrm>
          <a:prstGeom prst="roundRect">
            <a:avLst>
              <a:gd name="adj" fmla="val 59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892623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06923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892623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3025973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6787" y="3140273"/>
            <a:ext cx="1428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6775" y="3025973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06137" y="436895"/>
            <a:ext cx="110075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284C7"/>
                </a:solidFill>
                <a:latin typeface="Space Grotesk"/>
              </a:rPr>
              <a:t>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6137" y="863376"/>
            <a:ext cx="1404231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 smtClean="0">
                <a:solidFill>
                  <a:srgbClr val="0F172A"/>
                </a:solidFill>
                <a:latin typeface="Plus Jakarta Sans"/>
              </a:rPr>
              <a:t>Summary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5825" y="3540323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The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892748"/>
            <a:ext cx="3048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Undiagnosed diabetes affects millions globally, leading to severe microvascular complications prior to clinical intervention.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654623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007048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Predictive machine learning models trained on routine clinical markers enable rapid, non-invasive risk screening.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540323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Key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892748"/>
            <a:ext cx="3048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Achieved high predictive accuracy, establishing optimal trade-offs between precision recall and diagnostic interpretation.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27750" y="2780258"/>
            <a:ext cx="5054649" cy="2139255"/>
          </a:xfrm>
          <a:prstGeom prst="roundRect">
            <a:avLst>
              <a:gd name="adj" fmla="val 712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650" y="3123158"/>
            <a:ext cx="4368849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959298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26048"/>
            <a:ext cx="17145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29423"/>
            <a:ext cx="171450" cy="18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03341" y="778433"/>
            <a:ext cx="329256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284C7"/>
                </a:solidFill>
                <a:latin typeface="Space Grotesk"/>
              </a:rPr>
              <a:t>CONTEXT &amp;</a:t>
            </a:r>
            <a:r>
              <a:rPr sz="1050" b="1" i="0" u="none" dirty="0">
                <a:solidFill>
                  <a:srgbClr val="0284C7"/>
                </a:solidFill>
                <a:latin typeface="Space Grotesk"/>
              </a:rPr>
              <a:t> </a:t>
            </a:r>
            <a:r>
              <a:rPr sz="2000" b="1" i="0" u="none" dirty="0">
                <a:solidFill>
                  <a:srgbClr val="0284C7"/>
                </a:solidFill>
                <a:latin typeface="Space Grotesk"/>
              </a:rPr>
              <a:t>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9174" y="1535051"/>
            <a:ext cx="3850481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0650" y="3618458"/>
            <a:ext cx="4464099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8FAFC"/>
                </a:solidFill>
                <a:latin typeface="Plus Jakarta Sans"/>
              </a:rPr>
              <a:t>Early detection can reduce long-term diabetic complications by up to 40%.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0650" y="4395638"/>
            <a:ext cx="532134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— Global Healthcare Clinical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2925960"/>
            <a:ext cx="5232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i="0" u="none">
                <a:solidFill>
                  <a:srgbClr val="334155"/>
                </a:solidFill>
                <a:latin typeface="Plus Jakarta Sans"/>
              </a:rPr>
              <a:t>Delayed Diagnosis:</a:t>
            </a:r>
            <a:r>
              <a:rPr b="0" i="0" u="none">
                <a:solidFill>
                  <a:srgbClr val="334155"/>
                </a:solidFill>
                <a:latin typeface="Plus Jakarta Sans"/>
              </a:rPr>
              <a:t> Asymptomatic early stages prevent timely metabolic interventions.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592710"/>
            <a:ext cx="5232350" cy="2564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i="0" u="none" dirty="0">
                <a:solidFill>
                  <a:srgbClr val="334155"/>
                </a:solidFill>
                <a:latin typeface="Plus Jakarta Sans"/>
              </a:rPr>
              <a:t>Resource Constraints: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Frequent laboratory blood testing is expensive and inaccessible in remote regions</a:t>
            </a:r>
            <a:r>
              <a:rPr b="0" i="0" u="none" dirty="0" smtClean="0">
                <a:solidFill>
                  <a:srgbClr val="334155"/>
                </a:solidFill>
                <a:latin typeface="Plus Jakarta Sans"/>
              </a:rPr>
              <a:t>.</a:t>
            </a:r>
            <a:endParaRPr lang="en-IN" b="0" i="0" u="none" dirty="0" smtClean="0">
              <a:solidFill>
                <a:srgbClr val="334155"/>
              </a:solidFill>
              <a:latin typeface="Plus Jakarta Sans"/>
            </a:endParaRPr>
          </a:p>
          <a:p>
            <a:pPr algn="l">
              <a:lnSpc>
                <a:spcPts val="2025"/>
              </a:lnSpc>
            </a:pPr>
            <a:endParaRPr lang="en-IN" dirty="0">
              <a:solidFill>
                <a:srgbClr val="334155"/>
              </a:solidFill>
              <a:latin typeface="Plus Jakarta Sans"/>
            </a:endParaRPr>
          </a:p>
          <a:p>
            <a:pPr algn="l">
              <a:lnSpc>
                <a:spcPts val="2025"/>
              </a:lnSpc>
            </a:pPr>
            <a:endParaRPr lang="en-IN" b="0" i="0" u="none" dirty="0" smtClean="0">
              <a:solidFill>
                <a:srgbClr val="334155"/>
              </a:solidFill>
              <a:latin typeface="Plus Jakarta Sans"/>
            </a:endParaRPr>
          </a:p>
          <a:p>
            <a:pPr algn="l">
              <a:lnSpc>
                <a:spcPts val="2025"/>
              </a:lnSpc>
            </a:pPr>
            <a:endParaRPr lang="en-IN" dirty="0">
              <a:solidFill>
                <a:srgbClr val="334155"/>
              </a:solidFill>
              <a:latin typeface="Plus Jakarta Sans"/>
            </a:endParaRPr>
          </a:p>
          <a:p>
            <a:pPr algn="l">
              <a:lnSpc>
                <a:spcPts val="2025"/>
              </a:lnSpc>
            </a:pPr>
            <a:endParaRPr lang="en-IN" b="0" i="0" u="none" dirty="0" smtClean="0">
              <a:solidFill>
                <a:srgbClr val="334155"/>
              </a:solidFill>
              <a:latin typeface="Plus Jakarta Sans"/>
            </a:endParaRPr>
          </a:p>
          <a:p>
            <a:pPr algn="l">
              <a:lnSpc>
                <a:spcPts val="2025"/>
              </a:lnSpc>
            </a:pPr>
            <a:r>
              <a:rPr lang="en-IN" b="0" i="0" u="none" dirty="0" smtClean="0">
                <a:solidFill>
                  <a:srgbClr val="334155"/>
                </a:solidFill>
                <a:latin typeface="Plus Jakarta Sans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algn="l">
              <a:lnSpc>
                <a:spcPts val="2025"/>
              </a:lnSpc>
            </a:pPr>
            <a:endParaRPr lang="en-IN" dirty="0">
              <a:solidFill>
                <a:srgbClr val="334155"/>
              </a:solidFill>
              <a:latin typeface="Plus Jakarta Sans"/>
            </a:endParaRPr>
          </a:p>
          <a:p>
            <a:pPr algn="l">
              <a:lnSpc>
                <a:spcPts val="2025"/>
              </a:lnSpc>
            </a:pPr>
            <a:endParaRPr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8852" y="4490391"/>
            <a:ext cx="5232350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i="0" u="none" dirty="0">
                <a:solidFill>
                  <a:srgbClr val="334155"/>
                </a:solidFill>
                <a:latin typeface="Plus Jakarta Sans"/>
              </a:rPr>
              <a:t>Complex Multivariable Patterns: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Nonlinear dependencies between BMI, age, and glucose complicate manual diagnosis.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7225" y="2230635"/>
            <a:ext cx="5372100" cy="1504950"/>
          </a:xfrm>
          <a:prstGeom prst="roundRect">
            <a:avLst>
              <a:gd name="adj" fmla="val 101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230635"/>
            <a:ext cx="5372100" cy="1504950"/>
          </a:xfrm>
          <a:prstGeom prst="roundRect">
            <a:avLst>
              <a:gd name="adj" fmla="val 101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64185"/>
            <a:ext cx="5372100" cy="1504950"/>
          </a:xfrm>
          <a:prstGeom prst="roundRect">
            <a:avLst>
              <a:gd name="adj" fmla="val 101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964185"/>
            <a:ext cx="5372100" cy="1504950"/>
          </a:xfrm>
          <a:prstGeom prst="roundRect">
            <a:avLst>
              <a:gd name="adj" fmla="val 101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254496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86525" y="254496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5825" y="427851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86525" y="427851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65194" y="811485"/>
            <a:ext cx="91210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284C7"/>
                </a:solidFill>
                <a:latin typeface="Space Grotesk"/>
              </a:rPr>
              <a:t>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545" y="811485"/>
            <a:ext cx="368796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964060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Develop a predictive pipeline using standardized clinical measurements to estimate onset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2964060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Identify primary physiological drivers influencing diabetes classification performance.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697610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Compare linear, ensemble, and distance-based classifiers to pinpoint optimal metrics.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4697610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Deliver an interpretable framework suitable for integration into preliminary care workflows.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54496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3025" y="2578298"/>
            <a:ext cx="32004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Automated Risk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3650" y="254496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3725" y="2578298"/>
            <a:ext cx="248781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Feature Significance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427851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3025" y="4311848"/>
            <a:ext cx="257532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Model Benchmarking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3650" y="427851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3725" y="4311848"/>
            <a:ext cx="243780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Clinical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059435"/>
            <a:ext cx="10972800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687835"/>
            <a:ext cx="3454449" cy="106680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68849" y="2687835"/>
            <a:ext cx="3454449" cy="106680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28099" y="2687835"/>
            <a:ext cx="3454449" cy="106680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687835"/>
            <a:ext cx="38100" cy="10668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68849" y="2687835"/>
            <a:ext cx="38100" cy="10668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28099" y="2687835"/>
            <a:ext cx="38100" cy="10668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16516" y="790433"/>
            <a:ext cx="183755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284C7"/>
                </a:solidFill>
                <a:latin typeface="Space Grotesk"/>
              </a:rPr>
              <a:t>DATA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8979" y="1437307"/>
            <a:ext cx="6138267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PIMA Indians Dataset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297560"/>
            <a:ext cx="11344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Target Population: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Females at least 21 years of age of Pima Indian heritage.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573785"/>
            <a:ext cx="11344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Target Variable: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Binary Class Outcome (0: Non-Diabetic, 1: Diabetic).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878335"/>
            <a:ext cx="3794187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284C7"/>
                </a:solidFill>
                <a:latin typeface="Plus Jakarta Sans"/>
              </a:rPr>
              <a:t>768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383160"/>
            <a:ext cx="3794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Total Patient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449" y="2878335"/>
            <a:ext cx="3794187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284C7"/>
                </a:solidFill>
                <a:latin typeface="Plus Jakarta Sans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449" y="3383160"/>
            <a:ext cx="3794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Clinical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699" y="2878335"/>
            <a:ext cx="3794187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284C7"/>
                </a:solidFill>
                <a:latin typeface="Plus Jakarta Sans"/>
              </a:rPr>
              <a:t>268 /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99" y="3383160"/>
            <a:ext cx="3794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Positive / Negative Ratio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316485"/>
            <a:ext cx="19999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609552" y="3316485"/>
            <a:ext cx="43426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52208" y="3316485"/>
            <a:ext cx="11602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12472" y="3316485"/>
            <a:ext cx="3469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830835"/>
            <a:ext cx="19999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09552" y="3830835"/>
            <a:ext cx="43426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52208" y="3830835"/>
            <a:ext cx="11602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12472" y="3830835"/>
            <a:ext cx="3469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345185"/>
            <a:ext cx="19999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09552" y="4345185"/>
            <a:ext cx="43426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52208" y="4345185"/>
            <a:ext cx="11602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12472" y="4345185"/>
            <a:ext cx="3469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859535"/>
            <a:ext cx="19999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09552" y="4859535"/>
            <a:ext cx="43426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52208" y="4859535"/>
            <a:ext cx="11602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12472" y="4859535"/>
            <a:ext cx="3469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600" y="5373885"/>
            <a:ext cx="19999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09552" y="5373885"/>
            <a:ext cx="43426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52208" y="5373885"/>
            <a:ext cx="11602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12472" y="5373885"/>
            <a:ext cx="3469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600" y="2311598"/>
          <a:ext cx="10972798" cy="3076575"/>
        </p:xfrm>
        <a:graphic>
          <a:graphicData uri="http://schemas.openxmlformats.org/drawingml/2006/table">
            <a:tbl>
              <a:tblPr/>
              <a:tblGrid>
                <a:gridCol w="1999952"/>
                <a:gridCol w="4342655"/>
                <a:gridCol w="1160264"/>
                <a:gridCol w="3469927"/>
              </a:tblGrid>
              <a:tr h="5127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Feature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Medical Relevance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27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Glucose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Plasma glucose concentration (2-hr test)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Numeric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Direct indicator of glycemic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7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BMI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Body mass index (weight in kg/(height in m)²)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Numeric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Adiposity linked to insulin resistance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27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Age in years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Numeric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Risk scales with biological aging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7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Pedigree Function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Diabetes hereditary history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Numeric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Genetic susceptibility factor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276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Insulin / BP / Skin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2-Hour serum insulin, Blood Pressure, Skin Fold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Numeric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Secondary metabolic markers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728717" y="816432"/>
            <a:ext cx="270176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284C7"/>
                </a:solidFill>
                <a:latin typeface="Space Grotesk"/>
              </a:rPr>
              <a:t>DATA SPECIFICATION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0902" y="1376622"/>
            <a:ext cx="6342607" cy="3718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Clinical Variables Breakdown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92673"/>
            <a:ext cx="2414587" cy="1114425"/>
          </a:xfrm>
          <a:prstGeom prst="roundRect">
            <a:avLst>
              <a:gd name="adj" fmla="val 68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62337" y="3292673"/>
            <a:ext cx="2414587" cy="1114425"/>
          </a:xfrm>
          <a:prstGeom prst="roundRect">
            <a:avLst>
              <a:gd name="adj" fmla="val 68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15075" y="3292673"/>
            <a:ext cx="2414587" cy="1114425"/>
          </a:xfrm>
          <a:prstGeom prst="roundRect">
            <a:avLst>
              <a:gd name="adj" fmla="val 68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67812" y="3292673"/>
            <a:ext cx="2414587" cy="1114425"/>
          </a:xfrm>
          <a:prstGeom prst="roundRect">
            <a:avLst>
              <a:gd name="adj" fmla="val 68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587" y="3773685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3773685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062" y="3773685"/>
            <a:ext cx="13335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36327" y="802943"/>
            <a:ext cx="207726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284C7"/>
                </a:solidFill>
                <a:latin typeface="Space Grotesk"/>
              </a:rPr>
              <a:t>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4674" y="1611289"/>
            <a:ext cx="4337447" cy="3718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Methodology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530798"/>
            <a:ext cx="25440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1.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826073"/>
            <a:ext cx="20335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Raw PIMA dataset loading &amp; 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0462" y="3530798"/>
            <a:ext cx="25440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2.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0462" y="3826073"/>
            <a:ext cx="20335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Median imputation for invalid zero values.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530798"/>
            <a:ext cx="25440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3.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3826073"/>
            <a:ext cx="20335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Standardization (Z-score normalization).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5937" y="3530798"/>
            <a:ext cx="25440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4.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5937" y="3826073"/>
            <a:ext cx="20335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Classifier training &amp; 70/30 train-test split.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92598"/>
            <a:ext cx="3505200" cy="2314575"/>
          </a:xfrm>
          <a:prstGeom prst="roundRect">
            <a:avLst>
              <a:gd name="adj" fmla="val 65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92598"/>
            <a:ext cx="3505200" cy="2314575"/>
          </a:xfrm>
          <a:prstGeom prst="roundRect">
            <a:avLst>
              <a:gd name="adj" fmla="val 65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92598"/>
            <a:ext cx="3505200" cy="2314575"/>
          </a:xfrm>
          <a:prstGeom prst="roundRect">
            <a:avLst>
              <a:gd name="adj" fmla="val 65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06923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06923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006923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140273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3140273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6215" y="742030"/>
            <a:ext cx="281598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284C7"/>
                </a:solidFill>
                <a:latin typeface="Space Grotesk"/>
              </a:rPr>
              <a:t>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7836" y="1514475"/>
            <a:ext cx="7239000" cy="3718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Model Architecture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654623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Logistic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007048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Baseline linear model providing high interpretability and probabilistic log-odds estimates.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654623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4007048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Ensemble decision trees capturing non-linear feature interactions with reduced variance.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654623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K-Nearest Neighbors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4007048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Distance-based instance classification evaluating localized patient parameter clusters.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34410" y="2964060"/>
            <a:ext cx="5347989" cy="1771650"/>
          </a:xfrm>
          <a:prstGeom prst="roundRect">
            <a:avLst>
              <a:gd name="adj" fmla="val 86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59298"/>
            <a:ext cx="17145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26048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92798"/>
            <a:ext cx="171450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10436" y="796915"/>
            <a:ext cx="24069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284C7"/>
                </a:solidFill>
                <a:latin typeface="Space Grotesk"/>
              </a:rPr>
              <a:t>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1055" y="1435471"/>
            <a:ext cx="6781118" cy="3718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Training &amp; Validation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8735" y="3278385"/>
            <a:ext cx="56432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Primary Evaluation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925960"/>
            <a:ext cx="501521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Train-Test Split: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70% training set (537 samples) and 30% testing set (231 samples).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2710"/>
            <a:ext cx="501521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Cross-Validation: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10-fold CV applied during hyperparameter tuning to prevent overfitting.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4259460"/>
            <a:ext cx="501521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Optimization: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Grid search for optimal K-neighbors and Random Forest tree depths.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8735" y="3649860"/>
            <a:ext cx="9334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E293B"/>
                </a:solidFill>
                <a:latin typeface="Plus Jakarta Sans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8375" y="3649860"/>
            <a:ext cx="1762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Overall Correctness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8735" y="3945135"/>
            <a:ext cx="15120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E293B"/>
                </a:solidFill>
                <a:latin typeface="Plus Jakarta Sans"/>
              </a:rPr>
              <a:t>Recall (Sensitivity)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0225" y="3945135"/>
            <a:ext cx="2309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True Positive Identification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735" y="4240410"/>
            <a:ext cx="1440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E293B"/>
                </a:solidFill>
                <a:latin typeface="Plus Jakarta Sans"/>
              </a:rPr>
              <a:t>ROC-AUC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2150" y="4240410"/>
            <a:ext cx="21074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Class Separation 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3759" y="3075979"/>
            <a:ext cx="4598640" cy="1547812"/>
          </a:xfrm>
          <a:prstGeom prst="roundRect">
            <a:avLst>
              <a:gd name="adj" fmla="val 984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830835"/>
            <a:ext cx="22336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43212" y="3830835"/>
            <a:ext cx="13330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76266" y="3830835"/>
            <a:ext cx="1064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40387" y="3830835"/>
            <a:ext cx="14385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345185"/>
            <a:ext cx="22336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43212" y="4345185"/>
            <a:ext cx="13330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76266" y="4345185"/>
            <a:ext cx="1064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40387" y="4345185"/>
            <a:ext cx="14385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859535"/>
            <a:ext cx="22336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43212" y="4859535"/>
            <a:ext cx="13330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76266" y="4859535"/>
            <a:ext cx="1064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40387" y="4859535"/>
            <a:ext cx="14385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9600" y="2825948"/>
          <a:ext cx="6069358" cy="2047875"/>
        </p:xfrm>
        <a:graphic>
          <a:graphicData uri="http://schemas.openxmlformats.org/drawingml/2006/table">
            <a:tbl>
              <a:tblPr/>
              <a:tblGrid>
                <a:gridCol w="2233612"/>
                <a:gridCol w="1333053"/>
                <a:gridCol w="1064121"/>
                <a:gridCol w="1438572"/>
              </a:tblGrid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FFFFF"/>
                          </a:solidFill>
                          <a:latin typeface="Plus Jakarta Sans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FFFFF"/>
                          </a:solidFill>
                          <a:latin typeface="Plus Jakarta Sans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FFFFF"/>
                          </a:solidFill>
                          <a:latin typeface="Plus Jakarta Sans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AUC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Random Forest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78.5%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71.2%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76.2%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65.8%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7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KNN (K=5)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74.8%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62.1%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0.78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726406" y="772646"/>
            <a:ext cx="22336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284C7"/>
                </a:solidFill>
                <a:latin typeface="Space Grotesk"/>
              </a:rP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9787" y="1388790"/>
            <a:ext cx="6738342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Experimental Performance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9984" y="3352204"/>
            <a:ext cx="493201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Key Findings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9984" y="3704629"/>
            <a:ext cx="414144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Random Forest demonstrated superior overall performance due to its resilience against missing attribute noise and non-linear feature interactions.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3110"/>
            <a:ext cx="109728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02235"/>
            <a:ext cx="109728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221360"/>
            <a:ext cx="109728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840485"/>
            <a:ext cx="109728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983110"/>
            <a:ext cx="9326760" cy="152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602235"/>
            <a:ext cx="6803082" cy="152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221360"/>
            <a:ext cx="5266878" cy="152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840485"/>
            <a:ext cx="3840360" cy="152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00492" y="814598"/>
            <a:ext cx="121187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284C7"/>
                </a:solidFill>
                <a:latin typeface="Space Grotesk"/>
              </a:rPr>
              <a:t>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3469" y="1404620"/>
            <a:ext cx="6945432" cy="3718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Key Physiological Predictors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706885"/>
            <a:ext cx="2107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Glucose Concentration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53675" y="2706885"/>
            <a:ext cx="1535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34% Importance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326010"/>
            <a:ext cx="2059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BMI (Body Mass Index)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53675" y="3326010"/>
            <a:ext cx="1535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22% Importance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945135"/>
            <a:ext cx="5810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91775" y="3945135"/>
            <a:ext cx="1488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16% Importance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564260"/>
            <a:ext cx="2536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Diabetes Pedigree Function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91775" y="4564260"/>
            <a:ext cx="1488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12% Importance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28316" y="940853"/>
            <a:ext cx="172643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00B050"/>
                </a:solidFill>
                <a:latin typeface="Space Grotesk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1910804"/>
            <a:ext cx="10001250" cy="483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2400" b="1" i="0" u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Plus Jakarta Sans"/>
              </a:rPr>
              <a:t>Early Machine Learning Interventions Improve Patient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003" y="2768005"/>
            <a:ext cx="7739062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2400" b="0" i="0" u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Plus Jakarta Sans"/>
              </a:rPr>
              <a:t>By automating clinical risk assessment with models like Random Forest, early screening becomes accessible, non-invasive, and highly accurate.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79</TotalTime>
  <Words>599</Words>
  <Application>Microsoft Office PowerPoint</Application>
  <PresentationFormat>Widescreen</PresentationFormat>
  <Paragraphs>137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Space Grotesk</vt:lpstr>
      <vt:lpstr>Century Gothic</vt:lpstr>
      <vt:lpstr>Calibri</vt:lpstr>
      <vt:lpstr>Wingdings 3</vt:lpstr>
      <vt:lpstr>Plus Jakarta Sans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Windows_10</dc:creator>
  <cp:keywords/>
  <dc:description>generated using python-pptx</dc:description>
  <cp:lastModifiedBy>Windows_10</cp:lastModifiedBy>
  <cp:revision>10</cp:revision>
  <dcterms:created xsi:type="dcterms:W3CDTF">2013-01-27T09:14:16Z</dcterms:created>
  <dcterms:modified xsi:type="dcterms:W3CDTF">2026-10-23T17:15:09Z</dcterms:modified>
  <cp:category/>
</cp:coreProperties>
</file>